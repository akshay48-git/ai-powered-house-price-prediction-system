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76" r:id="rId11"/>
    <p:sldId id="265" r:id="rId12"/>
    <p:sldId id="266" r:id="rId13"/>
    <p:sldId id="267" r:id="rId14"/>
    <p:sldId id="274" r:id="rId15"/>
    <p:sldId id="275" r:id="rId16"/>
    <p:sldId id="268" r:id="rId17"/>
    <p:sldId id="269" r:id="rId18"/>
    <p:sldId id="270" r:id="rId19"/>
    <p:sldId id="271" r:id="rId20"/>
    <p:sldId id="272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Gunnala" userId="40ace0cb60b9619c" providerId="LiveId" clId="{483EC2C3-0D84-4F3B-BE2F-955FD449FC6B}"/>
    <pc:docChg chg="undo custSel addSld modSld modMainMaster">
      <pc:chgData name="Akshay Gunnala" userId="40ace0cb60b9619c" providerId="LiveId" clId="{483EC2C3-0D84-4F3B-BE2F-955FD449FC6B}" dt="2026-08-06T03:15:08.991" v="438" actId="1076"/>
      <pc:docMkLst>
        <pc:docMk/>
      </pc:docMkLst>
      <pc:sldChg chg="addSp delSp modSp mod">
        <pc:chgData name="Akshay Gunnala" userId="40ace0cb60b9619c" providerId="LiveId" clId="{483EC2C3-0D84-4F3B-BE2F-955FD449FC6B}" dt="2026-08-06T03:15:08.991" v="438" actId="1076"/>
        <pc:sldMkLst>
          <pc:docMk/>
          <pc:sldMk cId="0" sldId="256"/>
        </pc:sldMkLst>
        <pc:spChg chg="mod">
          <ac:chgData name="Akshay Gunnala" userId="40ace0cb60b9619c" providerId="LiveId" clId="{483EC2C3-0D84-4F3B-BE2F-955FD449FC6B}" dt="2026-08-06T03:13:05.607" v="42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kshay Gunnala" userId="40ace0cb60b9619c" providerId="LiveId" clId="{483EC2C3-0D84-4F3B-BE2F-955FD449FC6B}" dt="2026-08-06T03:14:22.766" v="437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kshay Gunnala" userId="40ace0cb60b9619c" providerId="LiveId" clId="{483EC2C3-0D84-4F3B-BE2F-955FD449FC6B}" dt="2026-08-06T03:15:08.991" v="438" actId="1076"/>
          <ac:spMkLst>
            <pc:docMk/>
            <pc:sldMk cId="0" sldId="256"/>
            <ac:spMk id="4" creationId="{94EBAF5F-E1E0-4F96-9E96-BAE742B8BAEC}"/>
          </ac:spMkLst>
        </pc:spChg>
        <pc:spChg chg="add mod">
          <ac:chgData name="Akshay Gunnala" userId="40ace0cb60b9619c" providerId="LiveId" clId="{483EC2C3-0D84-4F3B-BE2F-955FD449FC6B}" dt="2026-08-06T03:06:14.548" v="371" actId="255"/>
          <ac:spMkLst>
            <pc:docMk/>
            <pc:sldMk cId="0" sldId="256"/>
            <ac:spMk id="6" creationId="{74B3FF89-C727-4CAF-8AC8-365D9E46EFFA}"/>
          </ac:spMkLst>
        </pc:spChg>
        <pc:spChg chg="add mod">
          <ac:chgData name="Akshay Gunnala" userId="40ace0cb60b9619c" providerId="LiveId" clId="{483EC2C3-0D84-4F3B-BE2F-955FD449FC6B}" dt="2026-08-06T03:07:12.359" v="380" actId="255"/>
          <ac:spMkLst>
            <pc:docMk/>
            <pc:sldMk cId="0" sldId="256"/>
            <ac:spMk id="7" creationId="{4EBB4FEC-19A2-4835-9B76-BE6D6EB2DC4C}"/>
          </ac:spMkLst>
        </pc:spChg>
        <pc:picChg chg="del">
          <ac:chgData name="Akshay Gunnala" userId="40ace0cb60b9619c" providerId="LiveId" clId="{483EC2C3-0D84-4F3B-BE2F-955FD449FC6B}" dt="2026-08-06T02:53:50.193" v="109" actId="21"/>
          <ac:picMkLst>
            <pc:docMk/>
            <pc:sldMk cId="0" sldId="256"/>
            <ac:picMk id="5" creationId="{54B49C40-617D-4467-B856-159B560E4E22}"/>
          </ac:picMkLst>
        </pc:picChg>
      </pc:sldChg>
      <pc:sldChg chg="addSp delSp modSp mod">
        <pc:chgData name="Akshay Gunnala" userId="40ace0cb60b9619c" providerId="LiveId" clId="{483EC2C3-0D84-4F3B-BE2F-955FD449FC6B}" dt="2026-08-06T02:54:30.864" v="119" actId="478"/>
        <pc:sldMkLst>
          <pc:docMk/>
          <pc:sldMk cId="0" sldId="257"/>
        </pc:sldMkLst>
        <pc:picChg chg="add mod">
          <ac:chgData name="Akshay Gunnala" userId="40ace0cb60b9619c" providerId="LiveId" clId="{483EC2C3-0D84-4F3B-BE2F-955FD449FC6B}" dt="2026-08-06T02:54:24.937" v="118" actId="1076"/>
          <ac:picMkLst>
            <pc:docMk/>
            <pc:sldMk cId="0" sldId="257"/>
            <ac:picMk id="5" creationId="{B6D4663F-CDEF-4D99-84BC-747154EEC175}"/>
          </ac:picMkLst>
        </pc:picChg>
        <pc:picChg chg="del mod">
          <ac:chgData name="Akshay Gunnala" userId="40ace0cb60b9619c" providerId="LiveId" clId="{483EC2C3-0D84-4F3B-BE2F-955FD449FC6B}" dt="2026-08-06T02:54:30.864" v="119" actId="478"/>
          <ac:picMkLst>
            <pc:docMk/>
            <pc:sldMk cId="0" sldId="257"/>
            <ac:picMk id="8" creationId="{5256DA49-F7AD-4157-BC54-C343A971AEEC}"/>
          </ac:picMkLst>
        </pc:picChg>
      </pc:sldChg>
      <pc:sldChg chg="modSp mod">
        <pc:chgData name="Akshay Gunnala" userId="40ace0cb60b9619c" providerId="LiveId" clId="{483EC2C3-0D84-4F3B-BE2F-955FD449FC6B}" dt="2026-08-06T00:06:59.642" v="1" actId="255"/>
        <pc:sldMkLst>
          <pc:docMk/>
          <pc:sldMk cId="0" sldId="261"/>
        </pc:sldMkLst>
        <pc:spChg chg="mod">
          <ac:chgData name="Akshay Gunnala" userId="40ace0cb60b9619c" providerId="LiveId" clId="{483EC2C3-0D84-4F3B-BE2F-955FD449FC6B}" dt="2026-08-06T00:06:59.642" v="1" actId="255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Akshay Gunnala" userId="40ace0cb60b9619c" providerId="LiveId" clId="{483EC2C3-0D84-4F3B-BE2F-955FD449FC6B}" dt="2026-08-06T00:12:12.457" v="24" actId="20577"/>
        <pc:sldMkLst>
          <pc:docMk/>
          <pc:sldMk cId="0" sldId="262"/>
        </pc:sldMkLst>
        <pc:spChg chg="mod">
          <ac:chgData name="Akshay Gunnala" userId="40ace0cb60b9619c" providerId="LiveId" clId="{483EC2C3-0D84-4F3B-BE2F-955FD449FC6B}" dt="2026-08-06T00:12:12.457" v="24" actId="20577"/>
          <ac:spMkLst>
            <pc:docMk/>
            <pc:sldMk cId="0" sldId="262"/>
            <ac:spMk id="9" creationId="{76F0C633-7B70-4EAE-ACE3-8D1959677A02}"/>
          </ac:spMkLst>
        </pc:spChg>
      </pc:sldChg>
      <pc:sldChg chg="modSp mod">
        <pc:chgData name="Akshay Gunnala" userId="40ace0cb60b9619c" providerId="LiveId" clId="{483EC2C3-0D84-4F3B-BE2F-955FD449FC6B}" dt="2026-08-06T01:06:10.326" v="33" actId="20577"/>
        <pc:sldMkLst>
          <pc:docMk/>
          <pc:sldMk cId="0" sldId="268"/>
        </pc:sldMkLst>
        <pc:spChg chg="mod">
          <ac:chgData name="Akshay Gunnala" userId="40ace0cb60b9619c" providerId="LiveId" clId="{483EC2C3-0D84-4F3B-BE2F-955FD449FC6B}" dt="2026-08-06T01:06:10.326" v="33" actId="20577"/>
          <ac:spMkLst>
            <pc:docMk/>
            <pc:sldMk cId="0" sldId="268"/>
            <ac:spMk id="5" creationId="{AB1DB222-8D60-4E9C-8874-2169343E3E9E}"/>
          </ac:spMkLst>
        </pc:spChg>
      </pc:sldChg>
      <pc:sldChg chg="addSp delSp modSp new mod">
        <pc:chgData name="Akshay Gunnala" userId="40ace0cb60b9619c" providerId="LiveId" clId="{483EC2C3-0D84-4F3B-BE2F-955FD449FC6B}" dt="2026-08-06T01:34:45.155" v="108" actId="1076"/>
        <pc:sldMkLst>
          <pc:docMk/>
          <pc:sldMk cId="1618171488" sldId="276"/>
        </pc:sldMkLst>
        <pc:spChg chg="add mod">
          <ac:chgData name="Akshay Gunnala" userId="40ace0cb60b9619c" providerId="LiveId" clId="{483EC2C3-0D84-4F3B-BE2F-955FD449FC6B}" dt="2026-08-06T01:27:40.008" v="41" actId="14100"/>
          <ac:spMkLst>
            <pc:docMk/>
            <pc:sldMk cId="1618171488" sldId="276"/>
            <ac:spMk id="2" creationId="{F9B79E09-3713-4FFC-8079-CF1FE192CE78}"/>
          </ac:spMkLst>
        </pc:spChg>
        <pc:spChg chg="add del">
          <ac:chgData name="Akshay Gunnala" userId="40ace0cb60b9619c" providerId="LiveId" clId="{483EC2C3-0D84-4F3B-BE2F-955FD449FC6B}" dt="2026-08-06T01:28:16.987" v="43"/>
          <ac:spMkLst>
            <pc:docMk/>
            <pc:sldMk cId="1618171488" sldId="276"/>
            <ac:spMk id="3" creationId="{05A20FB2-FD34-4628-A0EA-C695B0EAB619}"/>
          </ac:spMkLst>
        </pc:spChg>
        <pc:spChg chg="add del">
          <ac:chgData name="Akshay Gunnala" userId="40ace0cb60b9619c" providerId="LiveId" clId="{483EC2C3-0D84-4F3B-BE2F-955FD449FC6B}" dt="2026-08-06T01:28:16.987" v="43"/>
          <ac:spMkLst>
            <pc:docMk/>
            <pc:sldMk cId="1618171488" sldId="276"/>
            <ac:spMk id="4" creationId="{432C1BDA-6098-401E-B1BF-82944DC607A9}"/>
          </ac:spMkLst>
        </pc:spChg>
        <pc:spChg chg="add del">
          <ac:chgData name="Akshay Gunnala" userId="40ace0cb60b9619c" providerId="LiveId" clId="{483EC2C3-0D84-4F3B-BE2F-955FD449FC6B}" dt="2026-08-06T01:28:16.987" v="43"/>
          <ac:spMkLst>
            <pc:docMk/>
            <pc:sldMk cId="1618171488" sldId="276"/>
            <ac:spMk id="5" creationId="{7E08E65F-B833-4796-A993-9686AF49F020}"/>
          </ac:spMkLst>
        </pc:spChg>
        <pc:spChg chg="add del">
          <ac:chgData name="Akshay Gunnala" userId="40ace0cb60b9619c" providerId="LiveId" clId="{483EC2C3-0D84-4F3B-BE2F-955FD449FC6B}" dt="2026-08-06T01:28:16.987" v="43"/>
          <ac:spMkLst>
            <pc:docMk/>
            <pc:sldMk cId="1618171488" sldId="276"/>
            <ac:spMk id="6" creationId="{00B0497F-6917-4A89-874D-C45215D8BE6D}"/>
          </ac:spMkLst>
        </pc:spChg>
        <pc:spChg chg="add del">
          <ac:chgData name="Akshay Gunnala" userId="40ace0cb60b9619c" providerId="LiveId" clId="{483EC2C3-0D84-4F3B-BE2F-955FD449FC6B}" dt="2026-08-06T01:28:16.987" v="43"/>
          <ac:spMkLst>
            <pc:docMk/>
            <pc:sldMk cId="1618171488" sldId="276"/>
            <ac:spMk id="7" creationId="{9267FCDA-F3DE-42D0-AD13-0E28BFF24945}"/>
          </ac:spMkLst>
        </pc:spChg>
        <pc:spChg chg="add mod">
          <ac:chgData name="Akshay Gunnala" userId="40ace0cb60b9619c" providerId="LiveId" clId="{483EC2C3-0D84-4F3B-BE2F-955FD449FC6B}" dt="2026-08-06T01:34:16.704" v="104" actId="20577"/>
          <ac:spMkLst>
            <pc:docMk/>
            <pc:sldMk cId="1618171488" sldId="276"/>
            <ac:spMk id="8" creationId="{31C296E9-8B88-4D11-9F47-E3D48B62AB76}"/>
          </ac:spMkLst>
        </pc:spChg>
        <pc:spChg chg="add del mod">
          <ac:chgData name="Akshay Gunnala" userId="40ace0cb60b9619c" providerId="LiveId" clId="{483EC2C3-0D84-4F3B-BE2F-955FD449FC6B}" dt="2026-08-06T01:28:35.917" v="47" actId="478"/>
          <ac:spMkLst>
            <pc:docMk/>
            <pc:sldMk cId="1618171488" sldId="276"/>
            <ac:spMk id="9" creationId="{39BCE2FE-CDD3-42CF-AFED-23A58725B720}"/>
          </ac:spMkLst>
        </pc:spChg>
        <pc:spChg chg="add mod">
          <ac:chgData name="Akshay Gunnala" userId="40ace0cb60b9619c" providerId="LiveId" clId="{483EC2C3-0D84-4F3B-BE2F-955FD449FC6B}" dt="2026-08-06T01:34:36.393" v="107" actId="1076"/>
          <ac:spMkLst>
            <pc:docMk/>
            <pc:sldMk cId="1618171488" sldId="276"/>
            <ac:spMk id="10" creationId="{ED64699E-EAE8-4F91-BF2E-352E88E16BCB}"/>
          </ac:spMkLst>
        </pc:spChg>
        <pc:spChg chg="add del mod">
          <ac:chgData name="Akshay Gunnala" userId="40ace0cb60b9619c" providerId="LiveId" clId="{483EC2C3-0D84-4F3B-BE2F-955FD449FC6B}" dt="2026-08-06T01:28:38.248" v="48" actId="478"/>
          <ac:spMkLst>
            <pc:docMk/>
            <pc:sldMk cId="1618171488" sldId="276"/>
            <ac:spMk id="11" creationId="{922B0D4C-0FE2-462F-91A4-E5FFF70E2394}"/>
          </ac:spMkLst>
        </pc:spChg>
        <pc:spChg chg="add mod">
          <ac:chgData name="Akshay Gunnala" userId="40ace0cb60b9619c" providerId="LiveId" clId="{483EC2C3-0D84-4F3B-BE2F-955FD449FC6B}" dt="2026-08-06T01:34:45.155" v="108" actId="1076"/>
          <ac:spMkLst>
            <pc:docMk/>
            <pc:sldMk cId="1618171488" sldId="276"/>
            <ac:spMk id="12" creationId="{FEC04555-CA56-4546-A85F-C2DEB26AA3C8}"/>
          </ac:spMkLst>
        </pc:spChg>
      </pc:sldChg>
      <pc:sldMasterChg chg="setBg">
        <pc:chgData name="Akshay Gunnala" userId="40ace0cb60b9619c" providerId="LiveId" clId="{483EC2C3-0D84-4F3B-BE2F-955FD449FC6B}" dt="2026-08-06T02:57:02.879" v="120"/>
        <pc:sldMasterMkLst>
          <pc:docMk/>
          <pc:sldMasterMk cId="3646593862" sldId="2147484024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8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9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0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7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7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9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8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3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3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637" y="2828835"/>
            <a:ext cx="111653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House Price Prediction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0637" y="4337784"/>
            <a:ext cx="651209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Akshay (110724559003)</a:t>
            </a:r>
          </a:p>
          <a:p>
            <a:pPr>
              <a:defRPr sz="2000"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by: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Mr.Manikanta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2024–2026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BAF5F-E1E0-4F96-9E96-BAE742B8BAEC}"/>
              </a:ext>
            </a:extLst>
          </p:cNvPr>
          <p:cNvSpPr/>
          <p:nvPr/>
        </p:nvSpPr>
        <p:spPr>
          <a:xfrm>
            <a:off x="2942900" y="287153"/>
            <a:ext cx="8183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 sz="2000"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 UNDER STATISTICS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B3FF89-C727-4CAF-8AC8-365D9E46EFFA}"/>
              </a:ext>
            </a:extLst>
          </p:cNvPr>
          <p:cNvSpPr/>
          <p:nvPr/>
        </p:nvSpPr>
        <p:spPr>
          <a:xfrm>
            <a:off x="3693498" y="826606"/>
            <a:ext cx="492525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JAHNAVI DEGREE &amp; PG COLLEGE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B4FEC-19A2-4835-9B76-BE6D6EB2DC4C}"/>
              </a:ext>
            </a:extLst>
          </p:cNvPr>
          <p:cNvSpPr/>
          <p:nvPr/>
        </p:nvSpPr>
        <p:spPr>
          <a:xfrm>
            <a:off x="3860339" y="1319853"/>
            <a:ext cx="4468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OSMANIA UNIVERSITY</a:t>
            </a:r>
            <a:endParaRPr lang="en-US" sz="2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632" y="274320"/>
            <a:ext cx="4329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527" y="1257546"/>
            <a:ext cx="706343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Accurate house price prediction is essential for buyers, sellers, investors, and banks.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House prices are influenced by location, property size, amenities, and market trends.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Traditional property valuation methods are time-consuming and may produce inaccurate estimates.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This project uses Machine Learning to predict house prices from real estate data.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proposed system analyzes 50,000 property records with 30 features to provide accurate and data-driven house price predictions.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4663F-CDEF-4D99-84BC-747154EEC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295" y="929695"/>
            <a:ext cx="4267505" cy="49986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8" y="274320"/>
            <a:ext cx="6164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048CE0-4400-4E62-8666-D7EFF896F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703" y="1151453"/>
            <a:ext cx="7813695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prices are influenced by multiple factors such as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location, property size, amenities, infrastructure, and market trends,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accurate price estimation a complex task.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Property value depends on multiple factors.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Buyers, sellers, investors, and financial institutions require a reliable, data-driven system to estimate fair property prices and support informed decision-making.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54FF78-54CF-4286-AB13-FF47DCBC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63" y="1356360"/>
            <a:ext cx="4053840" cy="4925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3007" y="274320"/>
            <a:ext cx="2842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847DF-CE3D-4DBD-AD6A-2BBBA44A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1" y="1200774"/>
            <a:ext cx="11441122" cy="2412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811733-7345-4565-A327-D591E058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51" y="3714080"/>
            <a:ext cx="11441122" cy="2412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2154" y="675998"/>
            <a:ext cx="3805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F634CC5-971C-4698-8975-BD9AEC39A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432" y="1567756"/>
            <a:ext cx="67054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Location Features: City, Locality, Distance     to City Center.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Property Features: BHK, Built-up Area, Carpet Area, Bathrooms, Balconies.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Amenities: Parking, Lift, Power Backup, Furnishing Status.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Nearby Facilities: Schools, Hospitals, Metro Station.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Target Variable: House Price </a:t>
            </a:r>
            <a:r>
              <a:rPr lang="en-US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(Price in Lakhs).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1BCB4A5-B187-4727-BF4F-765F550D3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" y="191729"/>
            <a:ext cx="4875878" cy="6415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21233"/>
            <a:ext cx="379167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CEF440-78D4-47BA-A91A-C60D89D65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1" y="1130807"/>
            <a:ext cx="118687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 Removed duplicate and irrelevant records.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Handling: Filled or removed missing values.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Encoding: Converted categorical data into numerical format.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 Standardized numerical features using </a:t>
            </a:r>
            <a:r>
              <a:rPr kumimoji="0" lang="en-US" altLang="en-US" sz="27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Divided the dataset into training and testing sets.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Model-Ready Data: Prepared the processed dataset for Machine Learning models.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7418C-AD5A-4F8E-9EA0-83F4E506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1" y="3879113"/>
            <a:ext cx="10591799" cy="2391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012" y="490217"/>
            <a:ext cx="32367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OBJECTIVE-1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65A7C-4716-4D1C-82CE-13BD399C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1" y="274320"/>
            <a:ext cx="6400799" cy="3154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C58803-58F9-4121-81AC-2B675423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1" y="3635908"/>
            <a:ext cx="6400799" cy="315468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6F0C633-7B70-4EAE-ACE3-8D1959677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1" y="1311238"/>
            <a:ext cx="522732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Price Distribution (Histogram):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Most properties are concentrated in the lower to mid-price range, while high-priced properties occur less frequently.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City-wise House Prices (Box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lot):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prices differ across cities, with Bangalore and Delhi showing wider price ranges, while Hyderabad and Mumbai have more balanced price distributions. Location is a key factor influencing house prices.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6E2ABC-8F3A-4A85-831B-8B46D0E985CA}"/>
              </a:ext>
            </a:extLst>
          </p:cNvPr>
          <p:cNvSpPr/>
          <p:nvPr/>
        </p:nvSpPr>
        <p:spPr>
          <a:xfrm>
            <a:off x="411480" y="378896"/>
            <a:ext cx="5364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8D484-BAF2-458E-8518-FD57C2688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138499"/>
            <a:ext cx="6946265" cy="67195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3CC95E-FAD6-459E-A3A7-F123E604F8F6}"/>
              </a:ext>
            </a:extLst>
          </p:cNvPr>
          <p:cNvSpPr/>
          <p:nvPr/>
        </p:nvSpPr>
        <p:spPr>
          <a:xfrm>
            <a:off x="411480" y="1682367"/>
            <a:ext cx="455676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relationship between different property features.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Built-up Area, Carpet Area, and BHK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a strong positive correlation with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City Center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negative correlation, indicating that location and property size are key factors influencing house prices.</a:t>
            </a:r>
          </a:p>
        </p:txBody>
      </p:sp>
    </p:spTree>
    <p:extLst>
      <p:ext uri="{BB962C8B-B14F-4D97-AF65-F5344CB8AC3E}">
        <p14:creationId xmlns:p14="http://schemas.microsoft.com/office/powerpoint/2010/main" val="326734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664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DAF7FD-169E-4F19-97F0-5170C39D6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920" y="305098"/>
            <a:ext cx="475170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BHK vs House Price (Scatter Plot):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prices increase as the number of BHKs increases, showing a positive relationship between property size and price.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 Types (Bar Chart):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Apartments are the most common property type, followed by Independent Houses and Villas.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Built-up Area vs House Price (Scatter Plot):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prices generally increase with built-up area, indicating a strong positive correlation between area and price.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28B47-1967-4DFC-9FFB-2DC28883E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621792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7D511-A4C0-46BF-88B1-F3F0538B9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8" y="3017520"/>
            <a:ext cx="3032762" cy="3566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224692-7240-4816-BB08-A8A2FC6BB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60" y="3214120"/>
            <a:ext cx="350069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B79E09-3713-4FFC-8079-CF1FE192CE78}"/>
              </a:ext>
            </a:extLst>
          </p:cNvPr>
          <p:cNvSpPr/>
          <p:nvPr/>
        </p:nvSpPr>
        <p:spPr>
          <a:xfrm>
            <a:off x="785088" y="641811"/>
            <a:ext cx="79837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HYPOTHESIS TESTING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1C296E9-8B88-4D11-9F47-E3D48B62A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68" y="1623576"/>
            <a:ext cx="11064239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Pearson Correlation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Built-up Area, Carpet Area, and BHK show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house price.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Distance to City Center shows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house price.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Conclusion: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 H₀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Property features significantly influence house prices.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64699E-EAE8-4F91-BF2E-352E88E16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68" y="3144223"/>
            <a:ext cx="1203960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One-Way ANOVA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ANOVA indicates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difference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house prices among cities.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Conclusion: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 H₀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Location has a significant effect on house prices.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FEC04555-CA56-4546-A85F-C2DEB26AA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06" y="4396840"/>
            <a:ext cx="1203960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Chi-Square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Chi-Square test shows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association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property type and house price category.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 H₀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Property type influences house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7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13308A-032F-4E7F-B577-85936E3C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22" y="1466221"/>
            <a:ext cx="6607278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implemented as the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regression model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house price prediction.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prices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learning the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relationship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property features and the target variable.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selected for its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simplicity, interpretability, and computational efficiency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86.81%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dataset.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 = 27.94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 = 1433.10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= 37.86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= 0.8681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1F3904-AB6E-4B5E-879D-DAB3D8D00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55" y="274320"/>
            <a:ext cx="5124348" cy="649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012" y="274320"/>
            <a:ext cx="42117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Model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565DAD-C90F-4706-9B4B-A87625451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460" y="1126440"/>
            <a:ext cx="693174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Regressor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implemented to predict house prices using a tree-based regression approach.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recursively splitting the dataset based on important property features.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selected for its ability 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 non-linear relationships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its easy interpretability.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79.03%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dataset.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 = 33.78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 = 2277.14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= 47.72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= 0.7903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E4CE6-E22F-43FD-81A4-3EFBD089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1126440"/>
            <a:ext cx="4043789" cy="4926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536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Regressor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6A39C-5312-422A-B9DB-5DFF09D2BB0B}"/>
              </a:ext>
            </a:extLst>
          </p:cNvPr>
          <p:cNvSpPr/>
          <p:nvPr/>
        </p:nvSpPr>
        <p:spPr>
          <a:xfrm>
            <a:off x="457200" y="1263640"/>
            <a:ext cx="6092825" cy="46935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implemented using an ensemble of multiple decision trees.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improves prediction accuracy by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overfitting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averaging.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selected for its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accuracy, robustness, and ability to capture complex patterns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90.06%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dataset.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23.68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= 1080.05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32.86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0.9006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FF647-9C2A-4FB0-A89F-B05FD7E3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114" y="718997"/>
            <a:ext cx="4806511" cy="5094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69B08B-659F-4A8F-920F-F873499D30B2}"/>
              </a:ext>
            </a:extLst>
          </p:cNvPr>
          <p:cNvSpPr/>
          <p:nvPr/>
        </p:nvSpPr>
        <p:spPr>
          <a:xfrm>
            <a:off x="1474839" y="147173"/>
            <a:ext cx="103116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REGRESSION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F16C8-2E3C-4F8D-BF64-BB073DDDF500}"/>
              </a:ext>
            </a:extLst>
          </p:cNvPr>
          <p:cNvSpPr/>
          <p:nvPr/>
        </p:nvSpPr>
        <p:spPr>
          <a:xfrm>
            <a:off x="5693681" y="1086660"/>
            <a:ext cx="6092825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implemented to improve prediction accuracy by sequentially correcting previous errors.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builds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weak learners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produce a strong predictive model.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selected for its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predictive performance and ability to model complex relationships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90.36%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dataset.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23.61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= 1046.50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32.35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0.9036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6E48D-2314-454B-B3B7-E0A5B008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2" y="1449541"/>
            <a:ext cx="4392928" cy="468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2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987AC-CFC1-4106-B9D6-1E16CA487AEF}"/>
              </a:ext>
            </a:extLst>
          </p:cNvPr>
          <p:cNvSpPr/>
          <p:nvPr/>
        </p:nvSpPr>
        <p:spPr>
          <a:xfrm>
            <a:off x="246147" y="279909"/>
            <a:ext cx="74603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XGBOOST REGRESSION MODEL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FECFBC-42F6-42AF-A9BF-EE1E912A4EF6}"/>
              </a:ext>
            </a:extLst>
          </p:cNvPr>
          <p:cNvSpPr/>
          <p:nvPr/>
        </p:nvSpPr>
        <p:spPr>
          <a:xfrm>
            <a:off x="498271" y="1366879"/>
            <a:ext cx="6462968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implemented as an optimized gradient boosting algorithm for house price prediction. 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and parallel processing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 and reduce overfitting. 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selected for its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speed, efficiency, and strong predictive performance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89.87%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dataset. 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23.80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= 1100.64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33.18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0.8987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0199C-06A3-4855-9D79-B38A846E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337" y="1248484"/>
            <a:ext cx="4420217" cy="50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98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40377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1DB222-8D60-4E9C-8874-2169343E3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19" y="1719609"/>
            <a:ext cx="1057459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were evaluated using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MAE, MSE, RMSE, and R² Score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R² Score=0.9036 (90.36%)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providing the best prediction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achieved high accuracy with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Scores above 89%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served as the baseline model, while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showed comparatively lower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regression models effectively predict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 prices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property, location, and amenity-related features.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1646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80A9003-00B2-4463-82B2-DF3FDACE4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5" y="1152108"/>
            <a:ext cx="5589638" cy="5431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(</a:t>
            </a:r>
            <a:r>
              <a:rPr kumimoji="0" lang="en-US" altLang="en-US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Additive </a:t>
            </a:r>
            <a:r>
              <a:rPr kumimoji="0" lang="en-US" altLang="en-US" sz="2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identify the most important features influencing house price prediction.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Built-up Area, Locality Tier, and Property Age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impact on the model's predictions.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features include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Fee, Carpet Area, and Furnishing Status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Nearby Schools, Power Backup, and Gym Availability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relatively lower influence on house prices.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improves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interpretability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explaining how each feature contributes to individual house price predictions.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3517F6-6903-4C91-9E77-66B41EE25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32735"/>
            <a:ext cx="5769776" cy="64509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684" y="274320"/>
            <a:ext cx="2536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507BD44-4A48-4CDE-90F6-F5340DFCA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84" y="975519"/>
            <a:ext cx="11267768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House Price Prediction System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predicts house prices using Machine Learning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 with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Score of 90.36%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identified key features such as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Built-up Area, Locality Tier, and Property Age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major factors influencing house prices.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accurate, reliable, and interpretable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predictions for real estate 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can support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buyers, sellers, investors, and real estate professionals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making informed property decisions.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949" y="274320"/>
            <a:ext cx="28052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6D66E6C-3F03-4E5F-B6FC-840C530CD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129" y="905232"/>
            <a:ext cx="9483212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real estate market data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more accurate price prediction.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advanced AI models to improve prediction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or mobile application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house price estimation.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such as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indicators, crime rates, and nearby infrastructure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support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cities and diverse property types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India.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6942" y="2766798"/>
            <a:ext cx="64302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</a:t>
            </a: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</TotalTime>
  <Words>1449</Words>
  <Application>Microsoft Office PowerPoint</Application>
  <PresentationFormat>Custom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Akshay Gunnala</cp:lastModifiedBy>
  <cp:revision>7</cp:revision>
  <dcterms:created xsi:type="dcterms:W3CDTF">2013-01-27T09:14:16Z</dcterms:created>
  <dcterms:modified xsi:type="dcterms:W3CDTF">2026-08-06T03:55:24Z</dcterms:modified>
  <cp:category/>
</cp:coreProperties>
</file>